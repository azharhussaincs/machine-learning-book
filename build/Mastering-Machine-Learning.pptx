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  <a:latin typeface="Calibri"/>
              </a:rPr>
              <a:t>A COMPLETE MASTERY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Mastering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611880"/>
            <a:ext cx="36576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From Beginner to Expert with Theory and Practical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Azhar Hussain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+92 300 8687258   |   azharhussaincs@gmail.com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 This Book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Calibri"/>
              </a:rPr>
              <a:t>Nine parts — from zero to production-ready ML 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9 Parts of 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 — Foundations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II — Maths &amp; Programming Toolkit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III — Working with Data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IV — Supervised Learning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V — Unsupervised &amp; Other Paradigms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VI — Deep Learning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VII — Applied AI Domains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VIII — Production, MLOps &amp; Deployment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IX — Career, Projects &amp; The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I — Foundations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1: Introduction to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AI = making machines do tasks that normally need human intelligence.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AI ⊃ Machine Learning ⊃ Deep Learning (nested fields).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Traditional programming: humans write rules. ML: machines learn rules from data.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Types by capability: Narrow (today), General (not yet), Super (hypothetical).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AI is already around us: maps, recommendations, voice assistants, spam filters.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AI is a tool — its value and its risks depend on how humans use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2: Introduction to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ML (Mitchell): learns from experience E at task T, measured by P — P improves with 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Modern boom = Big Data + cheap Compute + better Algorithms.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Vocabulary: features (X), labels (y), parameters (learned) vs hyperparameters (you set).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The workflow: define -&gt; collect -&gt; prepare -&gt; split -&gt; choose -&gt; train -&gt; evaluate -&gt; tune -&gt; deploy -&gt; monitor.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Three types: supervised (labelled), unsupervised (no labels), reinforcement (rewards).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Goal = generalization. Beware underfitting (too simple) &amp; overfitting (memorising).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Always evaluate on a separate test set; built a full Iris classifier end-to-end.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3: History of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ML maths predates computers: Bayes (1763), least squares (1805).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1943 neuron, 1950 Turing Test, 1956 'AI' named at Dartmouth, 1957 perceptron.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1969 XOR limitation -&gt; 1st AI winter; 1980s expert systems -&gt; 2nd AI winter.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1986 backpropagation revived multi-layer networks.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2012 AlexNet ignited deep learning; 2017 Transformers enabled modern LLMs.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AI moves in hype/winter cycles — be excited AND skeptical.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Built a perceptron from scratch and saw the XOR limitation first-hand.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4: Types of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First question of any project: 'Do I have labels?'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Supervised (labels): classification (category) vs regression (number).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Unsupervised (no labels): clustering, dimensionality reduction, anomaly, association.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Semi-supervised = few labels + lots unlabelled; self-supervised = data labels itself (LLMs).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Reinforcement = agent learns a policy from rewards in an environment.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Other splits: batch vs online, instance-based vs model-based.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Ran classification, regression and clustering side by side.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II — Maths &amp; Programming Toolkit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5: Mathematics for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Three pillars: linear algebra (store/transform data), calculus (slopes), optimization.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Data = vectors (rows), matrices (datasets), tensors (images/batches).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Dot product powers every prediction: features · weights + bias.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Derivative = slope; gradient = list of slopes, points uphill.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Loss measures 'how wrong'; MSE for regression.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Gradient descent: w &lt;- w - lr * dL/dw, step downhill; learning rate is key.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Coded gradient descent from scratch and watched it learn y = 2x + 1.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6: Statistics for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Central tendency: mean (outlier-sensitive), median (robust), mode.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Spread: variance, standard deviation (most used), IQR (robust).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Bayes' theorem: posterior ∝ likelihood × prior; base-rate effect.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Normal curve + 68-95-99.7 rule; z-scores; Central Limit Theorem.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Correlation r ∈ [-1,1] — but correlation is NOT causation.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Inference: samples -&gt; populations; p-values, significance, Type I/II errors.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Computed stats, correlation and a t-test with NumPy/Pandas/SciPy.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7: Python for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Python wins for readable syntax, huge free ecosystem, community, notebooks.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Set up: Python 3.10+, pip, a virtual environment per project, Jupyter/VS Code/Colab.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Core: variables, list/tuple/dict/set, if-elif-else, for/while, functions.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Indentation IS syntax; indexing starts at 0.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List comprehensions and lambdas make data code concise.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Classes (self, __init__) underpin every ML library object.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Ecosystem: NumPy, Pandas, Matplotlib/Seaborn, scikit-learn, TF/PyTorch, FastAPI.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8: NumPy &amp; 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NumPy: fast arrays + vectorised maths (10-100x faster than loops).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Key tools: shape/dtype, axis, boolean masks, broadcasting, reshape, dot.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Pandas DataFrame = labelled table; a column is a Series.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Always inspect first: head, info, describe, shape, isnull().sum().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Select/filter (loc vs iloc), create columns, sort_values.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GroupBy = split-apply-combine for per-category stats.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Handle missing values: isnull, fillna, dropna.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III — Working with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9: Data Analysis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~80% of ML is understanding &amp; preparing data.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Data types: numerical (discrete/continuous), categorical (nominal/ordinal).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Type dictates valid operations, charts, and encoding.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Sources: CSV, Excel, JSON, SQL, APIs, web, Parquet.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Analytics ladder: descriptive -&gt; diagnostic -&gt; predictive (ML) -&gt; prescriptive.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Analyse univariate -&gt; bivariate -&gt; multivariate; use value_counts, groupby, pivot.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10: 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Garbage In, Garbage Out — cleaning sets the ceiling of model quality.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Missing values: detect (isnull), then drop or impute (mean/median/mode/model).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Duplicates: duplicated() + drop_duplicates().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Outliers: detect with IQR (1.5x) or z-score; remove, cap, transform, or keep.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Fix inconsistent text (strip/title/replace) and wrong types (to_numeric/to_datetime).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Compute imputation stats on TRAIN only (avoid leakage); clean deliberately.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11: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Scaling: normalization (Min-Max -&gt; [0,1]) vs standardization (z-score -&gt; mean0,std1).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Scale for distance/gradient models; NOT for tree-based models.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Encoding: label/ordinal for ordered; one-hot for nominal (no false ordering).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Split train/test FIRST; fit scalers/encoders on train only (avoid leakage).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Use stratify for imbalanced classes.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Pipeline + ColumnTransformer bundle preprocessing + model reproducibly.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12: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Better features beat better algorithms — domain knowledge is the edge.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Create ratios/combinations (BMI, price/m²), differences, counts, flags.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Extract date/time parts (month, weekday, is_weekend).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Binning continuous -&gt; categories; log transform fixes right-skew.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Polynomial &amp; interaction features let linear models capture curves.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High-cardinality categories: frequency/target encoding (not one-hot).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Avoid target leakage; engineer data-dependent features on train only.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13: Feature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More features is NOT better — curse of dimensionality.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Benefits: less overfitting, faster, interpretable, often more accurate.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Filter: statistical scores (F-test, correlation, variance) — fast.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Wrapper: search subsets via model (RFE) — accurate, slow.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Embedded: selection during training (Lasso L1, tree importance).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Cross-check methods; select on train/within CV to avoid leakage.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14: Data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Always plot — identical stats can hide different data (Anscombe's Quartet).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Matplotlib (customisable) + Seaborn (statistical, less code).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Six charts: line, bar, histogram, box, scatter, heatmap.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Match chart to the question; title and label everything.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Honest axes: bar charts start at zero; avoid chartjunk.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Correlation heatmaps reveal predictors and redundant features.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15: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EDA = systematic detective work BEFORE modelling — the Part III capstone.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Workflow: structure -&gt; univariate -&gt; relationships -&gt; quality -&gt; target -&gt; insights.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Titanic: deck 77% missing (drop), age needs imputing, 38% survival baseline.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Sex (74% vs 19%) and class (63%-&gt;24%) are powerful survival predictors.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Establish a baseline; pair stats with plots; watch for leakage.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EDA outputs a concrete plan: what to clean, keep, engineer, and which metric.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IV — Supervised Learning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16: Supervised Learning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All supervised algorithms learn f(X) ≈ y from labelled data.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Classification (categories) vs regression (numbers).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Decision boundaries: linear=straight, trees=boxy, KNN=wiggly.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Bias-variance trade-off: too simple=underfit, too complex=overfit; find sweet spot.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No Free Lunch: no algorithm wins everywhere — always compare several.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Bake-off on breast-cancer data: 0.912-0.982; simple linear models tied for best.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17: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Predicts a NUMBER as a weighted sum of features: ŷ = w·x + b.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Trains by minimising MSE; via normal equation (exact) or gradient descent.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Metrics: MAE, MSE, RMSE (units), R² (variance explained).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Diabetes data: R²=0.453, RMSE≈53.9 — and coefficients are interpretable.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Assumes linearity; sensitive to outliers &amp; multicollinearity.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Simple, fast, interpretable — the ideal baseline; foundation for later models.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18: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Classification, not regression: linear score + sigmoid -&gt; probability.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Sigmoid squashes z=w·x+b into [0,1]; threshold (0.5) -&gt; class.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Trained with log-loss (cross-entropy), NOT MSE; punishes confident wrong answers.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Outputs calibrated probabilities (predict_proba) and interpretable log-odds.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Multiclass via softmax / one-vs-rest.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Breast-cancer: 0.982 accuracy, precision/recall 0.986; default first classifier.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19: K-Nearest Neighbors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Lazy / instance-based: stores data, votes among k nearest neighbours.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Distance metrics: Euclidean (default), Manhattan.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k controls bias-variance: small k overfits, large k underfits; choose via CV.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Feature scaling is CRITICAL — wine accuracy 0.72 -&gt; 0.94 with scaling.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Slow at prediction, memory-heavy, weak in high dimensions.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Great for small, scaled, low-dimensional data and 'similar items' tasks.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20: Naive Bayes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Probabilistic classifier from Bayes' theorem + naive independence assumption.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Predicts class maximising P(c) × product of P(xi|c).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Variants: Gaussian (continuous), Multinomial (text counts), Bernoulli (binary).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Laplace smoothing prevents zero-probability wipeouts.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Extremely fast, great on high-dimensional text (spam, sentiment).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Spam demo flagged 'free money now' at 0.947; GaussianNB iris 0.978.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21: Decision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Predict by asking yes/no questions root -&gt; leaf; a readable flowchart.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Splits chosen to maximise purity: Gini impurity or entropy/information gain.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Highly interpretable; no scaling needed; gives feature importances.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Overfit easily — control with max_depth, min_samples_leaf, pruning.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Iris: depth=1 underfits (0.667), depth=None overfits (train 1.0, test 0.978).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Unstable alone — the building block of Random Forests &amp; boosting.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22: Support Vector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Finds the maximum-margin boundary — widest 'street' between classes.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Support vectors (nearest points) alone define the boundary.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 = soft-margin dial: large C overfits (narrow), small C underfits (wide).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Kernel trick (linear/poly/RBF) draws non-linear boundaries efficiently.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Circles demo: linear 0.41 vs RBF 1.0 — kernels separate the unseparable.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Powerful in high-dim/few-sample; must scale; slow on large data.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23: Random Forest &amp; Bagging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Ensembles combine many models: bagging (variance) vs boosting (bias).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Bagging = bootstrap samples + average/vote; cancels random errors.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Random Forest = bagging of trees + random features per split (decorrelates).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Free OOB validation + reliable feature importances; no scaling needed.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Breast-cancer: forest 0.942 &gt; single tree 0.918, OOB 0.967.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Accurate, robust, low-tuning — a premier default for tabular data.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24: Boosting (AdaBoost, GB, XGBoost)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Sequential ensemble: each weak learner fixes the previous errors (reduces bias).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AdaBoost reweights misclassified points; Gradient Boosting fits residuals.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XGBoost / LightGBM / CatBoost: fast, regularized — top tabular performers.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Recipe: small learning_rate + many trees + early stopping; shallow weak trees.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CAN overfit (unlike RF) — tune learning_rate &amp; n_estimators together.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Breast-cancer: AdaBoost 0.959, GB 0.947 edged RF 0.942.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25: Evaluation, Validation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Split train/validation/test; guard the test set; use k-fold cross-validation.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Confusion matrix (TP/FP/TN/FN) is the basis of all classification metrics.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Precision (few false alarms), recall (few misses), F1 (their balance).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ROC/AUC: threshold-independent; 1.0 perfect, 0.5 random.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Accuracy paradox: on imbalanced data accuracy lies — use F1/AUC/recall.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Choose the metric by the COST of each error; never tune on the test set.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26: Tuning &amp; Regularization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Tune hyperparameters with grid / random / Bayesian search + cross-validation.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Random search often beats grid per budget (few hyperparameters matter).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Regularization penalises large weights to fight overfitting.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L2 (Ridge) shrinks weights; L1 (Lasso) zeros some (feature selection).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Strength dial: alpha (higher=stronger) or C (lower=stronger).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Grid search found SVM C=10, gamma=0.001 (CV 0.98); Lasso zeroed a feature.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V — Unsupervised &amp; Other Paradigms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27: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Unsupervised: find structure in UNLABELLED data; clustering groups similar items.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K-Means: assign to k nearest centroids, iterate; choose k via elbow + silhouette.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Hierarchical: dendrogram, no k needed, multi-level (slow on big data).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DBSCAN: density-based — arbitrary shapes, auto-k, detects outliers.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Moons demo: K-Means fails (0.488), DBSCAN finds 2 clusters perfectly.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Scale features; match method to cluster shape; always visualise &amp; interpret.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28: Dimensionality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Compress many features into few: fights curse of dimensionality.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PCA: linear, finds directions of max variance (principal components).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Choose #components via explained variance (digits: 31/64 keep 90%).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t-SNE &amp; UMAP: non-linear, beautiful 2-D VISUALISATIONS (not for models).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Scale before PCA; fit on train, transform both; never feed t-SNE to a classifier.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PCA for compression/preprocessing, t-SNE/UMAP for plots.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29: Association Rule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Finds items that go together (market-basket): rules 'if A then B'.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Support = frequency; Confidence = reliability; Lift = vs chance (key metric).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Lift &gt; 1 = positive association; confidence alone can mislead (popular items).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Apriori prunes via 'supersets of rare itemsets are rare'; FP-Growth is faster.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Demo: bread→butter lift 1.11 (real); jam→milk lift 0.89 (illusion).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Rank by lift with min support; association is NOT causation.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30: Semi-Supervised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Few labels + lots of unlabelled data — beats the labelling-cost problem.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Works under smoothness / cluster / manifold assumptions.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Self-training: add confident pseudo-labels and retrain.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Label propagation/spreading: labels flow through a similarity graph.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Digits with 131 labels: self-training 0.95 vs supervised-only 0.917.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Self-supervised (auto-generated labels) extends this and powers LLMs.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31: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Agent learns by trial, reward &amp; error — no labelled dataset.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Loop: state -&gt; action (policy) -&gt; reward + next state; maximise long-term return.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Discount factor γ values the future; ε-greedy balances explore vs exploit.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Q-learning: Q(s,a) &lt;- Q(s,a) + α[r + γ·maxQ(s',a') - Q(s,a)].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Built a Q-learning agent from scratch; weak exploration broke it first.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Deep RL (DQN, policy gradients) powers Atari, AlphaGo, robotics, RLHF.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VI — Deep Learning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32: Neural Networks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Neuron: a = φ(w·x + b); a sigmoid neuron is just logistic regression.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Activations add non-linearity: ReLU (hidden default), sigmoid/softmax (output).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MLP = input + hidden + output layers; prediction is the forward pass.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Depth enables hierarchical feature learning (edges-&gt;parts-&gt;objects).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Built &amp; trained an MLP in PyTorch (0.947 on breast cancer).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Deep learning for unstructured/big data; classic ML often wins on tabular.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33: Training Deep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Loop: forward -&gt; loss -&gt; backward (backprop) -&gt; update.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Backprop = chain rule run backward; frameworks autodiff via loss.backward().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Optimisers: SGD, momentum, Adam (default); Adam converged ~3x faster than SGD.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Mini-batches + epochs; beware vanishing/exploding gradients (ReLU, batchnorm fix).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Regularize: dropout, batch norm, early stopping, weight decay, augmentation.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Watch train-vs-validation loss; the gap = overfitting -&gt; early stop.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34: Convolutional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CNNs are built for images: filters convolve to make feature maps.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Local connectivity + parameter sharing -&gt; efficient &amp; spatially aware.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Conv + ReLU + pooling stacks -&gt; hierarchy (edges -&gt; shapes -&gt; objects).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Output size = (W-K+2P)/S+1; max pooling downsamples &amp; adds shift-robustness.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Built a CNN: 0.919 on digits with only 1,898 parameters (efficiency!).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LeNet-&gt;AlexNet-&gt;VGG-&gt;ResNet; use transfer learning for real images.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35: RNNs, LSTM &amp; GRU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RNNs process sequences step by step, keeping a hidden state (memory).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Plain RNNs forget long-range context (vanishing gradients).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LSTM: cell state + 3 gates (forget/input/output) for long-term memory.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GRU: simpler 2-gate variant, faster; bidirectional adds future context.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Built an LSTM that learned 'is the sum positive' (0.948) — real memory.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Great for time series/streaming; Transformers now dominate NLP.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36: Generative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Generative models learn P(data) to CREATE new data (vs discriminative classify).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Autoencoder: encoder-&gt;bottleneck-&gt;decoder; compress, denoise, detect anomalies.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AE compressed digits 64-&gt;8 (MSE 0.027); VAEs add generation.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GAN: generator vs discriminator (forger vs detective), adversarial training.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GANs are powerful but unstable (mode collapse); diffusion models = modern SOTA.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Dual-use: art &amp; augmentation, but deepfakes/misinfo — build responsibly.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37: Transformers &amp;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'Attention Is All You Need' (2017) — powers all modern LLMs.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Attention: Query·Key -&gt; softmax weights -&gt; weighted sum of Values.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Self-attention lets every word attend to every other directly (long-range).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Multi-head attention + positional encoding + residual/layernorm blocks.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Won via parallelism + long-range context + scalability.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Families: encoder (BERT, understanding), decoder (GPT, generation), enc-dec (T5).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VII — Applied AI Domains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38: 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Core challenge: turn text into meaningful numbers.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Preprocess: tokenize, lowercase, stopwords, stemming/lemmatization.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Representations: BoW -&gt; TF-IDF -&gt; word embeddings -&gt; contextual (Transformers).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king - man + woman ≈ queen — embeddings capture meaning as geometry.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Built TF-IDF + Logistic Regression sentiment classifier (correct predictions).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Tasks: classification, sentiment, NER, translation, summarisation, QA.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39: 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An LLM = huge Transformer trained to predict the next token.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Training: self-supervised pretraining -&gt; fine-tuning -&gt; RLHF (alignment).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Scale + attention -&gt; emergent abilities; works in tokens within a context window.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Prompting (zero/few-shot, chain-of-thought) steers the same model.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Limitations: hallucination, knowledge cutoff, bias — no true understanding.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Mitigate with RAG (retrieve facts); adapt via prompting -&gt; RAG -&gt; fine-tuning.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40: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Images are grids of pixel numbers; convolution filters detect edges/features.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Tasks: classification, object detection (boxes), segmentation (per-pixel).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CNNs (and Vision Transformers) are the workhorses.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Transfer learning: fine-tune a pretrained model -&gt; strong results, little data.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Data augmentation (flips/rotations/crops) fights overfitting.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Tools: OpenCV, torchvision/Keras; start pretrained, don't train from scratch.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41: Recommendation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Predict which items a user will like out of many (Netflix, Amazon, Spotify).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Content-based: similar items (item features); Collaborative: similar users (ratings).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User-item matrix is sparse; cosine similarity finds taste-mates.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Built user-based CF from scratch (Bob ~ Ann; predicted M5 = 2.69).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Matrix factorization (latent factors) scales (won Netflix Prize).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Challenges: cold start, sparsity, popularity bias, filter bubbles; go hybrid.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42: Time Series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Predict future from time-ordered, dependent data — order matters.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Components: trend, seasonality, cyclical, noise; differencing for stationarity.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Methods: moving average, exponential smoothing, ARIMA/SARIMA, ML lags, LSTM.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ML approach: engineer lag/rolling/seasonal/calendar features + a regressor.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NEVER shuffle — split chronologically (train past, test future).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Lag-feature regression MAE 4.13 beat naive baseline 5.30; always beat a baseline.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43: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Creates new content: text/code (LLMs), images/video (diffusion), audio.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Diffusion: reverse a noising process — denoise random static into images.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Foundation models: pretrain one giant model, adapt to many tasks.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Temperature dial: low = focused/precise, high = diverse/creative.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Huge opportunities but real risks: hallucination, deepfakes, copyright, bias.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Frontier: agentic AI that takes actions (tools, APIs, multi-step tasks).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VIII — Production, MLOps &amp; Deployment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44: Model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Deployment makes a trained model available for real predictions.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Serialize the FULL pipeline (preprocessing + model) with joblib; load once at startup.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Serve as a REST API: FastAPI (modern, validated, auto-docs) or Flask (classic).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Streamlit/Gradio for instant interactive demos &amp; dashboards.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Containerise with Docker; pin versions for reproducibility.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Add input validation, logging, monitoring, versioning, rollback.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45: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MLOps = DevOps for ML; production ML is never 'done' — it decays.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ML depends on data + model, not just code; version all three.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Data drift (inputs change) vs concept drift (input-&gt;target changes).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KS test detected a shifted batch (p≈0) but passed a similar one (p=0.26).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Components: versioning, experiment tracking, registry, CI/CD/CT, feature store, monitoring.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Monitor from day one; retrain with validation gates; keep a rollback path.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46: Cloud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Cloud = on-demand GPUs/TPUs, elastic scaling, managed services (pay-as-you-go).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Stack: compute/storage -&gt; managed training -&gt; endpoints -&gt; AutoML -&gt; pre-trained APIs.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Platforms: AWS SageMaker, GCP Vertex AI, Azure ML.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Cost control: spot instances, serverless, shut down idle GPUs, budget alerts.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Watch egress/storage fees and vendor lock-in (containerise).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Use local/edge for privacy, small jobs, or low latency.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47: Edge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Run models ON the device (phone, camera, car) — low latency, privacy, offline.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Edge devices have limited compute/memory/power -&gt; models must be shrunk.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Quantization (32-&gt;8 bit, ~4x smaller, tiny error), pruning, knowledge distillation.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Tools: TensorFlow Lite, ONNX Runtime, Core ML, edge TPUs/NPUs.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Demo: float32 400KB -&gt; int8 100KB (4x) with error 0.0096.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Edge vs cloud is a spectrum; hybrid designs are common.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48: Responsible AI &amp;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Principles: fairness, transparency, privacy, safety, accountability, human oversight.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Bias in -&gt; bias out: models learn &amp; amplify data bias (historical/sampling/proxy).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Measure fairness per subgroup; disparate-impact ratio 0.70 &lt; 0.80 flagged bias.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Accuracy is NOT fairness; explainability (SHAP/LIME) builds trust.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Privacy: consent, differential privacy, federated learning; GDPR, EU AI Act.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Build ethics in from the start; keep humans responsible for big decisions.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PART IX — Career, Projects &amp; The Future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49: Real-World ML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Projects build skill AND the portfolio that gets you hired.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9-step workflow: define -&gt; data/EDA -&gt; clean -&gt; features -&gt; model -&gt; evaluate -&gt; tune -&gt; deploy -&gt; document.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Worked churn project: pipeline, CV 0.958, test AUC 0.993, saved &amp; deployable.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Catalog of 18 projects (beginner-&gt;advanced) mapped to the book's chapters.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Use pipelines (no leakage); FINISH and DEPLOY at least your best projects.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Quality over quantity: 3 polished, documented, deployed projects.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50: Industry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Same techniques power healthcare, finance, retail, transport, entertainment, etc.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Success pattern: clear problem, good data, right model, deploy, monitor, domain expertise.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Data quality beats model complexity; start simple; tie to a business KPI.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Deployment &amp; monitoring are the hard part; many models never ship or decay.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Most ML projects FAIL: poor framing, bad data/leakage, no deployment, no monitoring.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The algorithm is rarely the bottleneck — data + engineering + framing are.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51: ML Interview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Five areas: concepts, coding, maths/stats, system design, projects/behavioural.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System-design framework: clarify -&gt; problem &amp; metric -&gt; data -&gt; model -&gt; eval -&gt; deploy -&gt; monitor -&gt; ethics.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Question bank distils the book: bias-variance, metrics, regularization, ensembles, drift.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Think out loud, clarify first, start simple, structure open questions.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Know your projects deeply; admit unknowns and reason from fundamentals.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Prepare by reviewing summaries, explaining aloud, and doing mock interviews.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52: Freelancing with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Earn independently — high demand; you don't need to be an expert.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Services: data analysis/dashboards -&gt; predictive models -&gt; NLP/CV -&gt; LLM/chatbots -&gt; deployment -&gt; consulting.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Find clients: Upwork/Fiverr/Toptal, Kaggle, LinkedIn, niche outreach.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Win with a deployed portfolio + a specialised niche.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Price for VALUE; scope in writing (avoid creep &amp; underpricing).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Deliver usable results, communicate well; repeat clients &amp; referrals sustain you.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53: Career Guidance &amp; Startups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Roles: data analyst, data scientist, ML engineer, MLOps, research scientist, data eng, AI PM.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Most roles need fundamentals + portfolio, NOT a PhD (research is the exception).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Choose by strengths; break in via portfolio, networking, contributions, interview prep.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Grow by impact &amp; continuous learning; ML/data roles are highly paid &amp; in demand.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Startups: solve a specific painful problem (ML as enabler), check data, build an MVP.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Foundation models make AI products cheaper to build than ever.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Chapter 54: The Future of AI &amp;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Frontiers: multimodal foundation models, AI agents, reasoning, efficient models, AI-for-science.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Emerging: neuro-symbolic, world models, privacy-preserving ML, frontier hardware.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Hardest challenges are non-technical: alignment, safety, interpretability, bias, regulation.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Today's systems are powerful Narrow AI; AGI is hypothetical — keep calibrated judgement.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The #1 durable skill is CONTINUOUS LEARNING grounded in fundamentals.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You are now an ML practitioner — build responsibly, for good. Go build 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